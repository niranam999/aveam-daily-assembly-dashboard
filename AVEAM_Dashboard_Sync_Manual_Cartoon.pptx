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2011680"/>
          </a:xfrm>
          <a:prstGeom prst="roundRect">
            <a:avLst/>
          </a:prstGeom>
          <a:solidFill>
            <a:srgbClr val="FF7E40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0" rtlCol="0" anchor="ctr"/>
          <a:lstStyle/>
          <a:p>
            <a:pPr algn="ctr">
              <a:defRPr sz="4000" b="1">
                <a:solidFill>
                  <a:srgbClr val="1C1E21"/>
                </a:solidFill>
                <a:latin typeface="Segoe UI"/>
              </a:defRPr>
            </a:pPr>
            <a:r>
              <a:rPr dirty="0" err="1">
                <a:latin typeface="#ZF Terminal" panose="02000000000000000000" pitchFamily="2" charset="0"/>
                <a:cs typeface="#ZF Terminal" panose="02000000000000000000" pitchFamily="2" charset="0"/>
              </a:rPr>
              <a:t>ภารกิจอัปเดต</a:t>
            </a:r>
            <a:r>
              <a:rPr lang="th-TH" dirty="0" err="1">
                <a:latin typeface="#ZF Terminal" panose="02000000000000000000" pitchFamily="2" charset="0"/>
                <a:cs typeface="#ZF Terminal" panose="02000000000000000000" pitchFamily="2" charset="0"/>
              </a:rPr>
              <a:t>แดช</a:t>
            </a:r>
            <a:r>
              <a:rPr dirty="0" err="1">
                <a:latin typeface="#ZF Terminal" panose="02000000000000000000" pitchFamily="2" charset="0"/>
                <a:cs typeface="#ZF Terminal" panose="02000000000000000000" pitchFamily="2" charset="0"/>
              </a:rPr>
              <a:t>บอร์ดสุดล้ำ</a:t>
            </a:r>
            <a:r>
              <a:rPr dirty="0"/>
              <a:t>!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8534095" cy="1371600"/>
          </a:xfrm>
          <a:prstGeom prst="roundRect">
            <a:avLst/>
          </a:prstGeom>
          <a:solidFill>
            <a:srgbClr val="FFD214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0" rtlCol="0" anchor="ctr"/>
          <a:lstStyle/>
          <a:p>
            <a:pPr algn="ctr">
              <a:defRPr sz="2200" b="1">
                <a:solidFill>
                  <a:srgbClr val="1C1E21"/>
                </a:solidFill>
                <a:latin typeface="Segoe UI"/>
              </a:defRPr>
            </a:pPr>
            <a:r>
              <a:t>คู่มือฉบับการ์ตูน: ปัดเป่าจ๊อบเก่า ซิงก์จ๊อบใหม่ใน 2 สเต็ปง่ายๆ</a:t>
            </a:r>
          </a:p>
          <a:p>
            <a:pPr algn="ctr">
              <a:spcAft>
                <a:spcPts val="600"/>
              </a:spcAft>
              <a:defRPr sz="1600" b="0" i="0">
                <a:solidFill>
                  <a:srgbClr val="1C1E21"/>
                </a:solidFill>
                <a:latin typeface="Segoe UI"/>
              </a:defRPr>
            </a:pPr>
            <a:r>
              <a:t>เข้าใจง่ายใน 3 นาที สำหรับทีมประกอบ AVEAM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5303520"/>
            <a:ext cx="3657600" cy="91440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1500" b="1">
                <a:solidFill>
                  <a:srgbClr val="1C1E21"/>
                </a:solidFill>
                <a:latin typeface="Segoe UI"/>
              </a:defRPr>
            </a:pPr>
            <a:r>
              <a:t>💬 โดย พี่เอ &amp; ทีมประกอบ AVEAM ⚙️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822960"/>
          </a:xfrm>
          <a:prstGeom prst="roundRect">
            <a:avLst/>
          </a:prstGeom>
          <a:solidFill>
            <a:srgbClr val="6BE6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2400" b="1">
                <a:solidFill>
                  <a:srgbClr val="1C1E21"/>
                </a:solidFill>
                <a:latin typeface="Segoe UI"/>
              </a:defRPr>
            </a:pPr>
            <a:r>
              <a:t>STEP 1: 🔍 ภารกิจสปายส่องไฟล์ดิบหาจ๊อบใหม่!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" y="3538728"/>
            <a:ext cx="4114800" cy="1856232"/>
          </a:xfrm>
          <a:prstGeom prst="roundRect">
            <a:avLst/>
          </a:prstGeom>
          <a:solidFill>
            <a:srgbClr val="E8ECF0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800" b="1">
                <a:solidFill>
                  <a:srgbClr val="1C1E21"/>
                </a:solidFill>
              </a:defRPr>
            </a:pPr>
            <a:r>
              <a:rPr dirty="0"/>
              <a:t>📂 </a:t>
            </a:r>
            <a:r>
              <a:rPr dirty="0" err="1"/>
              <a:t>ต้นทาง</a:t>
            </a:r>
            <a:r>
              <a:rPr dirty="0"/>
              <a:t>: </a:t>
            </a:r>
            <a:r>
              <a:rPr dirty="0" err="1"/>
              <a:t>ไฟล์ดิบระบบ</a:t>
            </a:r>
            <a:r>
              <a:rPr dirty="0"/>
              <a:t> ERP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เมื่อ</a:t>
            </a:r>
            <a:r>
              <a:rPr lang="th-TH" dirty="0"/>
              <a:t>รัน </a:t>
            </a:r>
            <a:r>
              <a:rPr lang="en-US" dirty="0"/>
              <a:t>dashboard </a:t>
            </a:r>
            <a:r>
              <a:rPr lang="th-TH" dirty="0"/>
              <a:t>ในระบบ และทำการอัพเดท</a:t>
            </a:r>
            <a:r>
              <a:rPr dirty="0" err="1"/>
              <a:t>ไฟล์</a:t>
            </a:r>
            <a:r>
              <a:rPr dirty="0"/>
              <a:t> </a:t>
            </a:r>
            <a:endParaRPr lang="th-TH" dirty="0"/>
          </a:p>
          <a:p>
            <a:pPr algn="l"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1</a:t>
            </a:r>
            <a:r>
              <a:rPr lang="th-TH" dirty="0"/>
              <a:t>-</a:t>
            </a:r>
            <a:r>
              <a:rPr dirty="0" err="1"/>
              <a:t>DashboardPlanner</a:t>
            </a:r>
            <a:r>
              <a:rPr dirty="0"/>
              <a:t>-SO TRACKER.xls</a:t>
            </a:r>
            <a:r>
              <a:rPr lang="th-TH" dirty="0"/>
              <a:t> แล้ว</a:t>
            </a:r>
            <a:endParaRPr dirty="0"/>
          </a:p>
          <a:p>
            <a:pPr>
              <a:spcAft>
                <a:spcPts val="600"/>
              </a:spcAft>
              <a:defRPr sz="1400" b="1" i="0">
                <a:solidFill>
                  <a:srgbClr val="FF7E40"/>
                </a:solidFill>
                <a:latin typeface="Segoe UI"/>
              </a:defRPr>
            </a:pPr>
            <a:r>
              <a:rPr dirty="0"/>
              <a:t>👉 </a:t>
            </a:r>
            <a:r>
              <a:rPr dirty="0" err="1">
                <a:solidFill>
                  <a:srgbClr val="0000FF"/>
                </a:solidFill>
              </a:rPr>
              <a:t>จากนั้นกดรันไฟล์</a:t>
            </a:r>
            <a:r>
              <a:rPr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Step1-Compare 1-SO Tracker n 5-PN Job Relationship.bat </a:t>
            </a:r>
            <a:r>
              <a:rPr dirty="0" err="1">
                <a:solidFill>
                  <a:srgbClr val="0000FF"/>
                </a:solidFill>
              </a:rPr>
              <a:t>เพื่อเริ่มเปรียบเทียบข้อมูล</a:t>
            </a:r>
            <a:r>
              <a:rPr dirty="0">
                <a:solidFill>
                  <a:srgbClr val="0000FF"/>
                </a:solidFill>
              </a:rPr>
              <a:t>!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236311" y="3909060"/>
            <a:ext cx="1371600" cy="1097280"/>
          </a:xfrm>
          <a:prstGeom prst="rightArrow">
            <a:avLst/>
          </a:prstGeom>
          <a:solidFill>
            <a:srgbClr val="FFD214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91393" y="3543300"/>
            <a:ext cx="4469366" cy="1851660"/>
          </a:xfrm>
          <a:prstGeom prst="roundRect">
            <a:avLst/>
          </a:prstGeom>
          <a:solidFill>
            <a:srgbClr val="D4E7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800" b="1">
                <a:solidFill>
                  <a:srgbClr val="1C1E21"/>
                </a:solidFill>
              </a:defRPr>
            </a:pPr>
            <a:r>
              <a:rPr dirty="0"/>
              <a:t>⚡ </a:t>
            </a:r>
            <a:r>
              <a:rPr dirty="0" err="1"/>
              <a:t>ผลลัพธ์</a:t>
            </a:r>
            <a:r>
              <a:rPr dirty="0"/>
              <a:t>: </a:t>
            </a:r>
            <a:r>
              <a:rPr dirty="0" err="1"/>
              <a:t>การชี้บ่งด้วยรหัสสี</a:t>
            </a:r>
            <a:endParaRPr dirty="0"/>
          </a:p>
          <a:p>
            <a:pPr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💻 </a:t>
            </a:r>
            <a:r>
              <a:rPr dirty="0" err="1"/>
              <a:t>สคริปต์จะเปรียบเทียบกับไฟล์หลัก</a:t>
            </a:r>
            <a:r>
              <a:rPr lang="th-TH" dirty="0"/>
              <a:t>ชื่อ </a:t>
            </a:r>
            <a:r>
              <a:rPr lang="en-US" dirty="0"/>
              <a:t>5_PN_Job_Relationship_rev00-test.xlsx</a:t>
            </a:r>
            <a:r>
              <a:rPr dirty="0"/>
              <a:t> </a:t>
            </a:r>
            <a:r>
              <a:rPr dirty="0" err="1"/>
              <a:t>ให้ทันที</a:t>
            </a:r>
            <a:r>
              <a:rPr dirty="0"/>
              <a:t> </a:t>
            </a:r>
            <a:r>
              <a:rPr dirty="0" err="1"/>
              <a:t>และใส่สีเน้นให้อัตโนมัติ</a:t>
            </a:r>
            <a:r>
              <a:rPr dirty="0"/>
              <a:t>: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🔸 </a:t>
            </a:r>
            <a:r>
              <a:rPr dirty="0" err="1"/>
              <a:t>เติมข้อมูล</a:t>
            </a:r>
            <a:r>
              <a:rPr dirty="0"/>
              <a:t> SO / PO / PO Line </a:t>
            </a:r>
            <a:r>
              <a:rPr dirty="0" err="1"/>
              <a:t>ในแถวว่างให้อัตโนมัติ</a:t>
            </a:r>
            <a:endParaRPr dirty="0"/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🔸 </a:t>
            </a:r>
            <a:r>
              <a:rPr dirty="0" err="1"/>
              <a:t>จับคู่งานค้างเดิม</a:t>
            </a:r>
            <a:r>
              <a:rPr dirty="0"/>
              <a:t> </a:t>
            </a:r>
            <a:r>
              <a:rPr dirty="0" err="1"/>
              <a:t>ป้องกันยอดซ้ำซ้อน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57785" y="5540690"/>
            <a:ext cx="11002974" cy="1024702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600" b="1">
                <a:solidFill>
                  <a:srgbClr val="1C1E21"/>
                </a:solidFill>
              </a:defRPr>
            </a:pPr>
            <a:r>
              <a:rPr dirty="0"/>
              <a:t>🚦 </a:t>
            </a:r>
            <a:r>
              <a:rPr dirty="0" err="1"/>
              <a:t>สัญญาณสีเตือนภัยจอมเวท</a:t>
            </a:r>
            <a:r>
              <a:rPr dirty="0"/>
              <a:t> (</a:t>
            </a:r>
            <a:r>
              <a:rPr dirty="0" err="1"/>
              <a:t>ตรวจแถบสีนำทาง</a:t>
            </a:r>
            <a:r>
              <a:rPr dirty="0"/>
              <a:t>):</a:t>
            </a:r>
          </a:p>
          <a:p>
            <a:pPr algn="l">
              <a:spcAft>
                <a:spcPts val="600"/>
              </a:spcAft>
              <a:defRPr sz="1400" b="1" i="0">
                <a:solidFill>
                  <a:srgbClr val="E62828"/>
                </a:solidFill>
                <a:latin typeface="Segoe UI"/>
              </a:defRPr>
            </a:pPr>
            <a:r>
              <a:rPr dirty="0"/>
              <a:t>🔴 </a:t>
            </a:r>
            <a:r>
              <a:rPr dirty="0" err="1"/>
              <a:t>สีแดง</a:t>
            </a:r>
            <a:r>
              <a:rPr dirty="0"/>
              <a:t> (</a:t>
            </a:r>
            <a:r>
              <a:rPr dirty="0" err="1"/>
              <a:t>ในไฟล์</a:t>
            </a:r>
            <a:r>
              <a:rPr dirty="0"/>
              <a:t> SO Tracker) = </a:t>
            </a:r>
            <a:r>
              <a:rPr dirty="0" err="1"/>
              <a:t>จ๊อบใหม่เอี่ยม</a:t>
            </a:r>
            <a:r>
              <a:rPr dirty="0"/>
              <a:t>! </a:t>
            </a:r>
            <a:r>
              <a:rPr dirty="0" err="1"/>
              <a:t>ดึงจากระบบมาห้ามลืมก๊อปปี้ไปวางในไฟล์</a:t>
            </a:r>
            <a:r>
              <a:rPr dirty="0"/>
              <a:t> 5_</a:t>
            </a:r>
          </a:p>
          <a:p>
            <a:pPr algn="l">
              <a:spcAft>
                <a:spcPts val="600"/>
              </a:spcAft>
              <a:defRPr sz="1400" b="1" i="0">
                <a:solidFill>
                  <a:srgbClr val="1450E6"/>
                </a:solidFill>
                <a:latin typeface="Segoe UI"/>
              </a:defRPr>
            </a:pPr>
            <a:r>
              <a:rPr dirty="0"/>
              <a:t>🔵 </a:t>
            </a:r>
            <a:r>
              <a:rPr dirty="0" err="1"/>
              <a:t>สีน้ำเงิน</a:t>
            </a:r>
            <a:r>
              <a:rPr dirty="0"/>
              <a:t> (</a:t>
            </a:r>
            <a:r>
              <a:rPr dirty="0" err="1"/>
              <a:t>ในไฟล์หลัก</a:t>
            </a:r>
            <a:r>
              <a:rPr dirty="0"/>
              <a:t> 5_) = </a:t>
            </a:r>
            <a:r>
              <a:rPr dirty="0" err="1"/>
              <a:t>จ๊อบตกหล่น</a:t>
            </a:r>
            <a:r>
              <a:rPr dirty="0"/>
              <a:t>! </a:t>
            </a:r>
            <a:r>
              <a:rPr dirty="0" err="1"/>
              <a:t>ไม่มีในระบบ</a:t>
            </a:r>
            <a:r>
              <a:rPr dirty="0"/>
              <a:t> SO </a:t>
            </a:r>
            <a:r>
              <a:rPr dirty="0" err="1"/>
              <a:t>ล่าสุดแล้ว</a:t>
            </a:r>
            <a:r>
              <a:rPr dirty="0"/>
              <a:t> </a:t>
            </a:r>
            <a:r>
              <a:rPr dirty="0" err="1"/>
              <a:t>ให้คุณเอเข้าไปเคลียร์ข้อมูลออก</a:t>
            </a:r>
            <a:endParaRPr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C29659-5DF7-049C-5982-2C4CDDA8DDCD}"/>
              </a:ext>
            </a:extLst>
          </p:cNvPr>
          <p:cNvGrpSpPr/>
          <p:nvPr/>
        </p:nvGrpSpPr>
        <p:grpSpPr>
          <a:xfrm>
            <a:off x="237744" y="1252154"/>
            <a:ext cx="11695176" cy="1921388"/>
            <a:chOff x="237744" y="1252154"/>
            <a:chExt cx="11695176" cy="192138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52E464A-68A3-87C7-9861-DF1813ECE17F}"/>
                </a:ext>
              </a:extLst>
            </p:cNvPr>
            <p:cNvSpPr/>
            <p:nvPr/>
          </p:nvSpPr>
          <p:spPr>
            <a:xfrm>
              <a:off x="237744" y="1252154"/>
              <a:ext cx="11695176" cy="19213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F636DB-BD5B-3091-62E3-08E5A94C0AB1}"/>
                </a:ext>
              </a:extLst>
            </p:cNvPr>
            <p:cNvGrpSpPr/>
            <p:nvPr/>
          </p:nvGrpSpPr>
          <p:grpSpPr>
            <a:xfrm>
              <a:off x="323948" y="1315305"/>
              <a:ext cx="11543797" cy="1794748"/>
              <a:chOff x="323948" y="1315305"/>
              <a:chExt cx="11543797" cy="179474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49600AD-A03C-0693-183C-4A6B14393A0A}"/>
                  </a:ext>
                </a:extLst>
              </p:cNvPr>
              <p:cNvGrpSpPr/>
              <p:nvPr/>
            </p:nvGrpSpPr>
            <p:grpSpPr>
              <a:xfrm>
                <a:off x="323948" y="1315305"/>
                <a:ext cx="11543797" cy="1794748"/>
                <a:chOff x="141756" y="3337560"/>
                <a:chExt cx="11543797" cy="1794748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04F4D6BB-A258-DE27-4FC2-8418F1814A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1756" y="3352538"/>
                  <a:ext cx="1770959" cy="177977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74DD3BF2-0A7B-92CE-EB96-5FE9C415BA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54471" y="3352539"/>
                  <a:ext cx="1571149" cy="1027744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11E10DB5-99E8-9979-7640-B59C0BC6F4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54471" y="4578649"/>
                  <a:ext cx="1571149" cy="55365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27776D24-0B6F-3845-41C4-C2D2FFE01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67376" y="3337560"/>
                  <a:ext cx="4086670" cy="177977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0EFEB88A-E067-3682-642F-26A8E28B9D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95802" y="3337560"/>
                  <a:ext cx="3689751" cy="1793486"/>
                </a:xfrm>
                <a:prstGeom prst="rect">
                  <a:avLst/>
                </a:prstGeom>
              </p:spPr>
            </p:pic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BC7BAD0-6682-1372-B783-D7C430AC3632}"/>
                    </a:ext>
                  </a:extLst>
                </p:cNvPr>
                <p:cNvSpPr txBox="1"/>
                <p:nvPr/>
              </p:nvSpPr>
              <p:spPr>
                <a:xfrm>
                  <a:off x="5164263" y="4301620"/>
                  <a:ext cx="16690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FF00"/>
                      </a:solidFill>
                    </a:rPr>
                    <a:t>Save to this file.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9EE4117-7F79-BD32-7DC7-94468B7AA960}"/>
                    </a:ext>
                  </a:extLst>
                </p:cNvPr>
                <p:cNvSpPr txBox="1"/>
                <p:nvPr/>
              </p:nvSpPr>
              <p:spPr>
                <a:xfrm>
                  <a:off x="9066233" y="4301620"/>
                  <a:ext cx="22413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FF00"/>
                      </a:solidFill>
                    </a:rPr>
                    <a:t>Clone data to this file.</a:t>
                  </a:r>
                </a:p>
              </p:txBody>
            </p:sp>
          </p:grp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9D3B54BF-7F71-ECD1-865E-BC7D643C55CE}"/>
                  </a:ext>
                </a:extLst>
              </p:cNvPr>
              <p:cNvSpPr/>
              <p:nvPr/>
            </p:nvSpPr>
            <p:spPr>
              <a:xfrm>
                <a:off x="1956532" y="2020824"/>
                <a:ext cx="325567" cy="380122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7A7967F5-6008-A314-3F7D-3E5283152A3E}"/>
                  </a:ext>
                </a:extLst>
              </p:cNvPr>
              <p:cNvSpPr/>
              <p:nvPr/>
            </p:nvSpPr>
            <p:spPr>
              <a:xfrm rot="5400000">
                <a:off x="2765857" y="2273970"/>
                <a:ext cx="325567" cy="380122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B72B0EED-C898-51B9-4E37-E51A4554BF45}"/>
                  </a:ext>
                </a:extLst>
              </p:cNvPr>
              <p:cNvSpPr/>
              <p:nvPr/>
            </p:nvSpPr>
            <p:spPr>
              <a:xfrm>
                <a:off x="3712989" y="2536982"/>
                <a:ext cx="325567" cy="380122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6E86C8B6-E1C7-17EC-C57B-3B89B0F0263F}"/>
                  </a:ext>
                </a:extLst>
              </p:cNvPr>
              <p:cNvSpPr/>
              <p:nvPr/>
            </p:nvSpPr>
            <p:spPr>
              <a:xfrm>
                <a:off x="7947250" y="2536982"/>
                <a:ext cx="325567" cy="380122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BD5D95F-1714-A059-080B-EC6705414E75}"/>
              </a:ext>
            </a:extLst>
          </p:cNvPr>
          <p:cNvCxnSpPr>
            <a:cxnSpLocks/>
            <a:stCxn id="36" idx="2"/>
            <a:endCxn id="4" idx="0"/>
          </p:cNvCxnSpPr>
          <p:nvPr/>
        </p:nvCxnSpPr>
        <p:spPr>
          <a:xfrm rot="5400000">
            <a:off x="4167665" y="1621061"/>
            <a:ext cx="365186" cy="34701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822960"/>
          </a:xfrm>
          <a:prstGeom prst="roundRect">
            <a:avLst/>
          </a:prstGeom>
          <a:solidFill>
            <a:srgbClr val="FF9B66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2400" b="1">
                <a:solidFill>
                  <a:srgbClr val="1C1E21"/>
                </a:solidFill>
                <a:latin typeface="Segoe UI"/>
              </a:defRPr>
            </a:pPr>
            <a:r>
              <a:t>STEP 1.5: 📝 ก๊อปจ๊อบใหม่ &amp; จัดทัพมอบภารกิจ!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3474720"/>
          </a:xfrm>
          <a:prstGeom prst="roundRect">
            <a:avLst/>
          </a:prstGeom>
          <a:solidFill>
            <a:srgbClr val="FFE8E8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700" b="1"/>
            </a:pPr>
            <a:r>
              <a:rPr dirty="0">
                <a:solidFill>
                  <a:schemeClr val="tx1"/>
                </a:solidFill>
              </a:rPr>
              <a:t>1. </a:t>
            </a:r>
            <a:r>
              <a:rPr dirty="0" err="1">
                <a:solidFill>
                  <a:schemeClr val="tx1"/>
                </a:solidFill>
              </a:rPr>
              <a:t>ดึงจ๊อบใหม่ลงตาราง</a:t>
            </a:r>
            <a:r>
              <a:rPr dirty="0">
                <a:solidFill>
                  <a:schemeClr val="tx1"/>
                </a:solidFill>
              </a:rPr>
              <a:t> 📥</a:t>
            </a: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dirty="0"/>
          </a:p>
          <a:p>
            <a:pPr algn="l"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ก๊อปปี้แถวตัวอักษร</a:t>
            </a:r>
            <a:r>
              <a:rPr dirty="0"/>
              <a:t> </a:t>
            </a:r>
            <a:r>
              <a:rPr dirty="0" err="1"/>
              <a:t>สีแดง</a:t>
            </a:r>
            <a:r>
              <a:rPr dirty="0"/>
              <a:t> </a:t>
            </a:r>
            <a:r>
              <a:rPr dirty="0" err="1"/>
              <a:t>จากไฟล์</a:t>
            </a:r>
            <a:r>
              <a:rPr dirty="0"/>
              <a:t> SO Tracker </a:t>
            </a:r>
            <a:r>
              <a:rPr dirty="0" err="1"/>
              <a:t>มาวางต่อท้ายในตารางไฟล์หลัก</a:t>
            </a:r>
            <a:r>
              <a:rPr dirty="0"/>
              <a:t> 5_PN_Job_Relationship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646464"/>
                </a:solidFill>
                <a:latin typeface="Segoe UI"/>
              </a:defRPr>
            </a:pPr>
            <a:r>
              <a:rPr dirty="0" err="1"/>
              <a:t>ดึงรหัสพาร์ท</a:t>
            </a:r>
            <a:r>
              <a:rPr dirty="0"/>
              <a:t>, </a:t>
            </a:r>
            <a:r>
              <a:rPr dirty="0" err="1"/>
              <a:t>จ๊อบ</a:t>
            </a:r>
            <a:r>
              <a:rPr dirty="0"/>
              <a:t> </a:t>
            </a:r>
            <a:r>
              <a:rPr dirty="0" err="1"/>
              <a:t>และ</a:t>
            </a:r>
            <a:r>
              <a:rPr dirty="0"/>
              <a:t> Qty </a:t>
            </a:r>
            <a:r>
              <a:rPr dirty="0" err="1"/>
              <a:t>มาวางให้ครบถ้วน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291840" cy="3474720"/>
          </a:xfrm>
          <a:prstGeom prst="roundRect">
            <a:avLst/>
          </a:prstGeom>
          <a:solidFill>
            <a:srgbClr val="E8FFE8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700" b="1"/>
            </a:pPr>
            <a:r>
              <a:rPr dirty="0">
                <a:solidFill>
                  <a:schemeClr val="tx1"/>
                </a:solidFill>
              </a:rPr>
              <a:t>2. </a:t>
            </a:r>
            <a:r>
              <a:rPr dirty="0" err="1">
                <a:solidFill>
                  <a:schemeClr val="tx1"/>
                </a:solidFill>
              </a:rPr>
              <a:t>จัดแผนประกอบ</a:t>
            </a:r>
            <a:r>
              <a:rPr dirty="0">
                <a:solidFill>
                  <a:schemeClr val="tx1"/>
                </a:solidFill>
              </a:rPr>
              <a:t> 👥</a:t>
            </a: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dirty="0"/>
          </a:p>
          <a:p>
            <a:pPr algn="l"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กรอกข้อมูลสำคัญลงตาราง</a:t>
            </a:r>
            <a:r>
              <a:rPr dirty="0"/>
              <a:t> 5_ </a:t>
            </a:r>
            <a:r>
              <a:rPr dirty="0" err="1"/>
              <a:t>เพื่อระบุผู้รับผิดชอบ</a:t>
            </a:r>
            <a:r>
              <a:rPr dirty="0"/>
              <a:t>: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🔹 Customer: VEECO / COHU / UIC / ULC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🔹 Project Code: </a:t>
            </a:r>
            <a:r>
              <a:rPr dirty="0" err="1"/>
              <a:t>รหัสชื่อโมเดลหลัก</a:t>
            </a:r>
            <a:endParaRPr dirty="0"/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🔹 Team Leader / Member: </a:t>
            </a:r>
            <a:r>
              <a:rPr dirty="0" err="1"/>
              <a:t>ทีมช่างประกอบ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3474720"/>
          </a:xfrm>
          <a:prstGeom prst="roundRect">
            <a:avLst/>
          </a:prstGeom>
          <a:solidFill>
            <a:srgbClr val="F6E8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700" b="1"/>
            </a:pPr>
            <a:r>
              <a:rPr dirty="0">
                <a:solidFill>
                  <a:schemeClr val="tx1"/>
                </a:solidFill>
              </a:rPr>
              <a:t>3. </a:t>
            </a:r>
            <a:r>
              <a:rPr dirty="0" err="1">
                <a:solidFill>
                  <a:schemeClr val="tx1"/>
                </a:solidFill>
              </a:rPr>
              <a:t>แตกโมเดลชิ้นย่อย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/>
              <a:t>🧩</a:t>
            </a: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dirty="0"/>
          </a:p>
          <a:p>
            <a:pPr algn="l"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กรอกรายละเอียดเฉพาะ</a:t>
            </a:r>
            <a:r>
              <a:rPr dirty="0"/>
              <a:t> </a:t>
            </a:r>
            <a:r>
              <a:rPr dirty="0" err="1"/>
              <a:t>โมเดลงานใหม่แกะกล่อง</a:t>
            </a:r>
            <a:r>
              <a:rPr dirty="0"/>
              <a:t>: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🔹 </a:t>
            </a:r>
            <a:r>
              <a:rPr dirty="0" err="1"/>
              <a:t>เปิดไฟล์</a:t>
            </a:r>
            <a:r>
              <a:rPr dirty="0"/>
              <a:t> 1-List of each sub-assembly.xlsx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🔹 </a:t>
            </a:r>
            <a:r>
              <a:rPr dirty="0" err="1"/>
              <a:t>คีย์เพิ่มชิ้นส่วนย่อยของโมเดลใหม่ในตาราง</a:t>
            </a:r>
            <a:endParaRPr dirty="0"/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/>
              <a:t>🔹 </a:t>
            </a:r>
            <a:r>
              <a:rPr dirty="0" err="1"/>
              <a:t>บันทึกไฟล์</a:t>
            </a:r>
            <a:r>
              <a:rPr dirty="0"/>
              <a:t> </a:t>
            </a:r>
            <a:r>
              <a:rPr dirty="0" err="1"/>
              <a:t>เพื่อใช้พล็อตชาร์ตแท่งบนแดชบอร์ด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828800" y="5303520"/>
            <a:ext cx="8534095" cy="1005840"/>
          </a:xfrm>
          <a:prstGeom prst="roundRect">
            <a:avLst/>
          </a:prstGeom>
          <a:solidFill>
            <a:srgbClr val="FFD214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500" b="1"/>
            </a:pPr>
            <a:r>
              <a:rPr dirty="0"/>
              <a:t>⚠️ </a:t>
            </a:r>
            <a:r>
              <a:rPr dirty="0" err="1">
                <a:solidFill>
                  <a:srgbClr val="C00000"/>
                </a:solidFill>
              </a:rPr>
              <a:t>คำเตือนสำคัญจากพี่เอ</a:t>
            </a:r>
            <a:r>
              <a:rPr dirty="0">
                <a:solidFill>
                  <a:srgbClr val="C00000"/>
                </a:solidFill>
              </a:rPr>
              <a:t>: </a:t>
            </a:r>
            <a:r>
              <a:rPr dirty="0" err="1">
                <a:solidFill>
                  <a:srgbClr val="C00000"/>
                </a:solidFill>
              </a:rPr>
              <a:t>เมื่อแก้ไขความสอดคล้องข้อมูลเรียบร้อยแล้ว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 err="1">
                <a:solidFill>
                  <a:srgbClr val="C00000"/>
                </a:solidFill>
              </a:rPr>
              <a:t>อย่าลืมกด</a:t>
            </a:r>
            <a:r>
              <a:rPr dirty="0">
                <a:solidFill>
                  <a:srgbClr val="C00000"/>
                </a:solidFill>
              </a:rPr>
              <a:t> SAVE </a:t>
            </a:r>
            <a:r>
              <a:rPr dirty="0" err="1">
                <a:solidFill>
                  <a:srgbClr val="C00000"/>
                </a:solidFill>
              </a:rPr>
              <a:t>ทุกไฟล์</a:t>
            </a:r>
            <a:r>
              <a:rPr dirty="0">
                <a:solidFill>
                  <a:srgbClr val="C00000"/>
                </a:solidFill>
              </a:rPr>
              <a:t> Excel!</a:t>
            </a:r>
          </a:p>
          <a:p>
            <a:pPr algn="ctr">
              <a:spcAft>
                <a:spcPts val="600"/>
              </a:spcAft>
              <a:defRPr sz="12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หากไม่ได้เซฟ</a:t>
            </a:r>
            <a:r>
              <a:rPr dirty="0"/>
              <a:t> </a:t>
            </a:r>
            <a:r>
              <a:rPr dirty="0" err="1"/>
              <a:t>สคริปต์จะไม่ดึงข้อมูลล่าสุดที่คุณเอเพิ่งอัปเดตไปใช้งานครับ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822960"/>
          </a:xfrm>
          <a:prstGeom prst="roundRect">
            <a:avLst/>
          </a:prstGeom>
          <a:solidFill>
            <a:srgbClr val="A3FF78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2400" b="1">
                <a:solidFill>
                  <a:srgbClr val="1C1E21"/>
                </a:solidFill>
                <a:latin typeface="Segoe UI"/>
              </a:defRPr>
            </a:pPr>
            <a:r>
              <a:t>STEP 2: ⚡ เปิดประตูมิติ ส่งงานขึ้นบอร์ดคลาวด์ทีวี!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100584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2000" b="1"/>
            </a:pPr>
            <a:r>
              <a:rPr dirty="0">
                <a:solidFill>
                  <a:schemeClr val="tx1"/>
                </a:solidFill>
              </a:rPr>
              <a:t>👉 </a:t>
            </a:r>
            <a:r>
              <a:rPr dirty="0" err="1">
                <a:solidFill>
                  <a:srgbClr val="0000FF"/>
                </a:solidFill>
              </a:rPr>
              <a:t>ดับเบิลคลิกไฟล์ปุ่มลัดวิเศษ</a:t>
            </a:r>
            <a:r>
              <a:rPr dirty="0">
                <a:solidFill>
                  <a:srgbClr val="0000FF"/>
                </a:solidFill>
              </a:rPr>
              <a:t>:  Step2-clean_and_sync_board.bat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ตัวคำสั่งลัดนี้จะทำงานลึกลับ</a:t>
            </a:r>
            <a:r>
              <a:rPr dirty="0"/>
              <a:t> 2 </a:t>
            </a:r>
            <a:r>
              <a:rPr dirty="0" err="1"/>
              <a:t>กระบวนท่าไปพร้อมๆ</a:t>
            </a:r>
            <a:r>
              <a:rPr dirty="0"/>
              <a:t> </a:t>
            </a:r>
            <a:r>
              <a:rPr dirty="0" err="1"/>
              <a:t>กันแบบอัตโนมัติ</a:t>
            </a:r>
            <a:r>
              <a:rPr dirty="0"/>
              <a:t> 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743200"/>
            <a:ext cx="4389120" cy="3474720"/>
          </a:xfrm>
          <a:prstGeom prst="roundRect">
            <a:avLst/>
          </a:prstGeom>
          <a:solidFill>
            <a:srgbClr val="EAF2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700" b="1"/>
            </a:pPr>
            <a:r>
              <a:rPr dirty="0"/>
              <a:t>🧹 </a:t>
            </a:r>
            <a:r>
              <a:rPr dirty="0" err="1">
                <a:solidFill>
                  <a:schemeClr val="tx1"/>
                </a:solidFill>
              </a:rPr>
              <a:t>กระบวนท่าที่</a:t>
            </a:r>
            <a:r>
              <a:rPr dirty="0">
                <a:solidFill>
                  <a:schemeClr val="tx1"/>
                </a:solidFill>
              </a:rPr>
              <a:t> 1: </a:t>
            </a:r>
            <a:r>
              <a:rPr dirty="0" err="1">
                <a:solidFill>
                  <a:schemeClr val="tx1"/>
                </a:solidFill>
              </a:rPr>
              <a:t>ปัดกวาดเก็บประวัติ</a:t>
            </a:r>
            <a:endParaRPr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dirty="0"/>
          </a:p>
          <a:p>
            <a:pPr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ระบบจะสแกนหาจ๊อบที่ประกอบเสร็จ</a:t>
            </a:r>
            <a:r>
              <a:rPr dirty="0"/>
              <a:t> 100% (Completed </a:t>
            </a:r>
            <a:r>
              <a:rPr dirty="0" err="1"/>
              <a:t>หรือมีติ๊กถูก</a:t>
            </a:r>
            <a:r>
              <a:rPr dirty="0"/>
              <a:t> ✓) </a:t>
            </a:r>
            <a:r>
              <a:rPr dirty="0" err="1"/>
              <a:t>ในไฟล์</a:t>
            </a:r>
            <a:r>
              <a:rPr dirty="0"/>
              <a:t> </a:t>
            </a:r>
            <a:r>
              <a:rPr lang="en-US" dirty="0"/>
              <a:t>5_PN_Job_Relationship_rev00-test.xlsx 👉</a:t>
            </a:r>
            <a:r>
              <a:rPr dirty="0"/>
              <a:t> </a:t>
            </a:r>
            <a:r>
              <a:rPr dirty="0" err="1"/>
              <a:t>ดึงตัดย้ายข้อมูลจ๊อบที่เสร็จแล้วไปเก็บสะสมประวัติที่ไฟล์</a:t>
            </a:r>
            <a:r>
              <a:rPr dirty="0"/>
              <a:t> </a:t>
            </a:r>
            <a:r>
              <a:rPr lang="en-US" dirty="0"/>
              <a:t>7_5_PN_Job_Relationship_COMPLTED_rev00.xlsx</a:t>
            </a:r>
            <a:r>
              <a:rPr dirty="0"/>
              <a:t> </a:t>
            </a:r>
            <a:r>
              <a:rPr dirty="0" err="1"/>
              <a:t>เพื่อไม่ให้ไฟล์หลักรกโดยอัตโนมัติ</a:t>
            </a:r>
            <a:r>
              <a:rPr dirty="0"/>
              <a:t>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0975" y="2743200"/>
            <a:ext cx="4389120" cy="3474720"/>
          </a:xfrm>
          <a:prstGeom prst="roundRect">
            <a:avLst/>
          </a:prstGeom>
          <a:solidFill>
            <a:srgbClr val="FFF0EA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700" b="1"/>
            </a:pPr>
            <a:r>
              <a:rPr dirty="0"/>
              <a:t>📡 </a:t>
            </a:r>
            <a:r>
              <a:rPr dirty="0" err="1">
                <a:solidFill>
                  <a:schemeClr val="tx1"/>
                </a:solidFill>
              </a:rPr>
              <a:t>กระบวนท่าที่</a:t>
            </a:r>
            <a:r>
              <a:rPr dirty="0">
                <a:solidFill>
                  <a:schemeClr val="tx1"/>
                </a:solidFill>
              </a:rPr>
              <a:t> 2: </a:t>
            </a:r>
            <a:r>
              <a:rPr dirty="0" err="1">
                <a:solidFill>
                  <a:schemeClr val="tx1"/>
                </a:solidFill>
              </a:rPr>
              <a:t>ส่งข้อมูลขึ้นคลาวด์</a:t>
            </a:r>
            <a:endParaRPr dirty="0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dirty="0"/>
          </a:p>
          <a:p>
            <a:pPr algn="l">
              <a:spcAft>
                <a:spcPts val="600"/>
              </a:spcAft>
              <a:defRPr sz="1400" b="0" i="0">
                <a:solidFill>
                  <a:srgbClr val="1C1E21"/>
                </a:solidFill>
                <a:latin typeface="Segoe UI"/>
              </a:defRPr>
            </a:pPr>
            <a:r>
              <a:rPr dirty="0" err="1"/>
              <a:t>ระบบจะอัปโหลดจ๊อบ</a:t>
            </a:r>
            <a:r>
              <a:rPr dirty="0"/>
              <a:t> WIP </a:t>
            </a:r>
            <a:r>
              <a:rPr dirty="0" err="1"/>
              <a:t>ที่เหลือ</a:t>
            </a:r>
            <a:r>
              <a:rPr dirty="0"/>
              <a:t> </a:t>
            </a:r>
            <a:r>
              <a:rPr dirty="0" err="1"/>
              <a:t>และพาร์ทย่อยประกอบขึ้นเซิร์ฟเวอร์คลาวด์</a:t>
            </a:r>
            <a:endParaRPr dirty="0"/>
          </a:p>
          <a:p>
            <a:pPr algn="l">
              <a:spcAft>
                <a:spcPts val="600"/>
              </a:spcAft>
              <a:defRPr sz="1400" b="1" i="0">
                <a:solidFill>
                  <a:srgbClr val="E65014"/>
                </a:solidFill>
                <a:latin typeface="Segoe UI"/>
              </a:defRPr>
            </a:pPr>
            <a:r>
              <a:rPr dirty="0"/>
              <a:t>👉 </a:t>
            </a:r>
            <a:r>
              <a:rPr dirty="0" err="1"/>
              <a:t>หน้าจอแดชบอร์ดทีวีฝ่ายผลิตจะอัปเดตเรียลไทม์</a:t>
            </a:r>
            <a:r>
              <a:rPr dirty="0"/>
              <a:t> </a:t>
            </a:r>
            <a:r>
              <a:rPr dirty="0" err="1"/>
              <a:t>และแสดง</a:t>
            </a:r>
            <a:r>
              <a:rPr dirty="0"/>
              <a:t> QR Code </a:t>
            </a:r>
            <a:r>
              <a:rPr dirty="0" err="1"/>
              <a:t>จ๊อบใหม่ให้ช่างสแกนได้ทันที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822960"/>
          </a:xfrm>
          <a:prstGeom prst="roundRect">
            <a:avLst/>
          </a:prstGeom>
          <a:solidFill>
            <a:srgbClr val="FF9B9B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2400" b="1">
                <a:solidFill>
                  <a:srgbClr val="1C1E21"/>
                </a:solidFill>
                <a:latin typeface="Segoe UI"/>
              </a:defRPr>
            </a:pPr>
            <a:r>
              <a:t>🛠️ กฎเหล็กฉบับฮีโร่ &amp; วิธีปราบวิญญาณร้าย!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389120"/>
          </a:xfrm>
          <a:prstGeom prst="roundRect">
            <a:avLst/>
          </a:prstGeom>
          <a:solidFill>
            <a:srgbClr val="FFEAEA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❌ </a:t>
            </a:r>
            <a:r>
              <a:rPr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ห้ามเปิดไฟล์</a:t>
            </a: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Excel </a:t>
            </a:r>
            <a:r>
              <a:rPr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ค้างขณะรัน</a:t>
            </a: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!</a:t>
            </a: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ปัญหายอดฮิต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หากคุณเอเปิดไฟล์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Excel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ค้างไว้แล้วกดดับเบิลคลิกไฟล์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.bat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ระบบจะบันทึกทับไฟล์ไม่ได้และเกิดเออร์เรอร์ทันที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>
              <a:spcAft>
                <a:spcPts val="600"/>
              </a:spcAft>
              <a:defRPr sz="1300" b="1" i="0">
                <a:solidFill>
                  <a:srgbClr val="C81E1E"/>
                </a:solidFill>
                <a:latin typeface="Sego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💡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วิธีแก้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ปิดโปรแกรม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Excel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ทั้งหมดในเครื่องก่อน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แล้วกดเบิลคลิกไฟล์บัตใหม่อีกครั้ง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291840" cy="4389120"/>
          </a:xfrm>
          <a:prstGeom prst="roundRect">
            <a:avLst/>
          </a:prstGeom>
          <a:solidFill>
            <a:srgbClr val="EAF2FF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🔒 </a:t>
            </a:r>
            <a:r>
              <a:rPr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ข้อมูลคนงานสแกน</a:t>
            </a: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ปลอดภัย</a:t>
            </a: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100%</a:t>
            </a: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ความกลัว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กลัวว่าซิงก์ข้อมูลไปแล้วจะลบยอดประกอบเสร็จรายชิ้น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(Progress FG)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ที่ช่างประกอบกรอกค้างไว้ในโรงงาน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>
              <a:spcAft>
                <a:spcPts val="600"/>
              </a:spcAft>
              <a:defRPr sz="1300" b="1" i="0">
                <a:solidFill>
                  <a:srgbClr val="1450C8"/>
                </a:solidFill>
                <a:latin typeface="Sego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💡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ความจริง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ตัวสคริปต์ฉลาดมาก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จะทำการรวมค่าความคืบหน้าสะสมไว้ให้อัตโนมัติ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ยอดเดิมไม่หายแน่นอน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100%!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4389120"/>
          </a:xfrm>
          <a:prstGeom prst="roundRect">
            <a:avLst/>
          </a:prstGeom>
          <a:solidFill>
            <a:srgbClr val="E8FFE8"/>
          </a:solidFill>
          <a:ln w="44450">
            <a:solidFill>
              <a:srgbClr val="1C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🔄 </a:t>
            </a:r>
            <a:r>
              <a:rPr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หน้าจอมือถือไม่รีเฟรชจ๊อบใหม่</a:t>
            </a:r>
            <a:r>
              <a:rPr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?</a:t>
            </a:r>
          </a:p>
          <a:p>
            <a:pPr algn="ctr">
              <a:spcAft>
                <a:spcPts val="600"/>
              </a:spcAft>
              <a:defRPr sz="1000" b="0" i="0">
                <a:solidFill>
                  <a:srgbClr val="1C1E21"/>
                </a:solidFill>
                <a:latin typeface="Segoe UI"/>
              </a:defRPr>
            </a:pP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>
              <a:spcAft>
                <a:spcPts val="600"/>
              </a:spcAft>
              <a:defRPr sz="1300" b="0" i="0">
                <a:solidFill>
                  <a:srgbClr val="1C1E21"/>
                </a:solidFill>
                <a:latin typeface="Segoe UI"/>
              </a:defRPr>
            </a:pP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บราวเซอร์มือถือหรือไอแพดมักจะแคชหน้าจอเก่าเก็บไว้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ทำให้กดซิงก์ไปแล้วบนทีวีขึ้น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แต่มือถือมองไม่เห็น</a:t>
            </a:r>
            <a:endParaRPr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>
              <a:spcAft>
                <a:spcPts val="600"/>
              </a:spcAft>
              <a:defRPr sz="1300" b="1" i="0">
                <a:solidFill>
                  <a:srgbClr val="149614"/>
                </a:solidFill>
                <a:latin typeface="Segoe UI"/>
              </a:defRPr>
            </a:pP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💡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วิธีแก้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ปิดแท็บบราวเซอร์เคลียร์แคชประวัติล่าสุด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หรือกดเปิดลิงก์ใน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'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โหมดบราวเซอร์ส่วนตัว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' (Incognito/Private Tab) </a:t>
            </a:r>
            <a:r>
              <a:rPr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เพื่อเช็ก</a:t>
            </a:r>
            <a:r>
              <a:rPr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798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#ZF Terminal</vt:lpstr>
      <vt:lpstr>Arial</vt:lpstr>
      <vt:lpstr>Calibri</vt:lpstr>
      <vt:lpstr>TH SarabunPSK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Wattana Poorisri</cp:lastModifiedBy>
  <cp:revision>6</cp:revision>
  <dcterms:created xsi:type="dcterms:W3CDTF">2013-01-27T09:14:16Z</dcterms:created>
  <dcterms:modified xsi:type="dcterms:W3CDTF">2026-07-08T03:23:18Z</dcterms:modified>
  <cp:category/>
</cp:coreProperties>
</file>